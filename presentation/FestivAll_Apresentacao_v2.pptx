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Boa tarde. Apresento o FestivAll — uma aplicação web fullstack construída em React que consome a API da Ticketmaster e tem o seu próprio backend com base de dados.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FestivAll é uma plataforma para descobrir eventos. Cada utilizador tem a sua conta com 4 funcionalidades principais: pesquisar, guardar favoritos, criar listas e avaliar eventos.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enunciado pedia o mínimo. Nós entregámos isso e fomos mais longe — implementámos backend próprio com base de dados, e adicionámos Material UI e animações Framer Motion.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perceber a arquitetura, pensem num restaurante. O React é o salão onde o cliente está, o backend é o empregado que recebe os pedidos, e o MySQL é a despensa. O cliente nunca toca diretamente na cozinha.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Tecnicamente é uma arquitetura three-tier. O React no browser comunica com a API REST via HTTPS e JWT. A API comunica com o MySQL via driver mysql2. Tudo está em Docker Compose.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React é uma forma de pensar interfaces como peças de LEGO. Em vez de uma página enorme, fazemos componentes pequenos que combinamos. O nosso EventCard, por exemplo, é usado em 3 páginas diferentes sem duplicar código.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Criámos mais de 15 componentes próprios. 10 páginas, 4 reutilizáveis, 2 providers de contexto e 3 estruturais como o App e o RequireAuth.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dados estão em 3 níveis. useState é um post-it — só dura na página atual. Context API é um quadro na sala — visível por toda a app. MySQL é o arquivo da gaveta — sobrevive a tudo.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RequireAuth é o porteiro do edifício. Sempre que tentas entrar numa rota privada, ele pede o cartão (token JWT). Se tens, deixa passar. Se não tens, manda-te para o login.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Quatro camadas de segurança. Password com hash bcrypt — irreversível. Consumer Key encriptada. JWT em cada pedido validado por middleware. E rate limiting para evitar abuso.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base de dados tem 7 tabelas todas ligadas à tabela users por chave estrangeira. Quando um utilizador é apagado, todos os seus dados desaparecem automaticamente — é o cascade delete.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Integrámos 14 componentes diferentes do Material UI. No login usamos Paper e TextField, na NavBar AppBar e Toolbar, no EventCard Card e suas variantes, e no SearchBar Select e FormControl.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animações para tornar a app mais profissional. Pop no login com Framer Motion. Scale no hover dos cards também com Framer Motion. E um sublinhado animado nos links da navbar feito com CSS puro.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Docker Compose orquestra os 3 serviços com um único comando. O web depende do api, que depende do db. A base de dados tem volume persistente, por isso os dados sobrevivem aos reinícios.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Vou mostrar o fluxo completo de quando alguém guarda um favorito. Clique no coração, chama o context, faz POST com JWT, backend valida, faz INSERT na BD, e a UI atualiza. Tudo em menos de meio segundo.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Vamos à demonstração ao vivo. Registo de utilizador, login, navegação pelo dashboard, pesquisa, favoritos, listas e avaliações. Tudo a correr nos 3 containers Docker.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4C7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128016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2468880"/>
            <a:ext cx="11155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FestivAll</a:t>
            </a:r>
            <a:endParaRPr lang="en-US" sz="7200" dirty="0"/>
          </a:p>
        </p:txBody>
      </p:sp>
      <p:sp>
        <p:nvSpPr>
          <p:cNvPr id="4" name="Text 1"/>
          <p:cNvSpPr/>
          <p:nvPr/>
        </p:nvSpPr>
        <p:spPr>
          <a:xfrm>
            <a:off x="548640" y="352044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BE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 Web Fullstack com ReactJS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5623560" y="4160520"/>
            <a:ext cx="914400" cy="45720"/>
          </a:xfrm>
          <a:prstGeom prst="rect">
            <a:avLst/>
          </a:prstGeom>
          <a:solidFill>
            <a:srgbClr val="BBE1FA"/>
          </a:solidFill>
          <a:ln w="12700">
            <a:solidFill>
              <a:srgbClr val="BBE1F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4434840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— Desenvolvimento Web II</a:t>
            </a:r>
            <a:endParaRPr lang="en-US" sz="18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BBE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UMAIA · Engenharia Informática · 2025/26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48640" y="59893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BE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· Material UI · Framer Motion · Node.js · MySQL · Docker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576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32004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o FestivAll?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48640" y="9144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C7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duas frases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914400" y="1828800"/>
            <a:ext cx="10332720" cy="1554480"/>
          </a:xfrm>
          <a:prstGeom prst="roundRect">
            <a:avLst>
              <a:gd name="adj" fmla="val 8824"/>
            </a:avLst>
          </a:prstGeom>
          <a:solidFill>
            <a:srgbClr val="F5F9FC"/>
          </a:solidFill>
          <a:ln w="12700">
            <a:solidFill>
              <a:srgbClr val="F5F9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188720" y="2011680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plataforma para descobrir e organizar eventos culturais e desportivos.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188720" y="269748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utilizador tem a sua conta, com favoritos, histórico, listas e avaliações persistentes.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914400" y="3657600"/>
            <a:ext cx="49834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BBE1FA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393192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783080" y="38862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Pesquisar eventos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783080" y="42976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palavra-chave, cidade, data ou categoria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263640" y="3657600"/>
            <a:ext cx="49834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BBE1FA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393192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132320" y="38862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favoritos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7132320" y="42976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Persistentes na base de dados, por utilizador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914400" y="5074920"/>
            <a:ext cx="49834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BBE1FA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5349240"/>
            <a:ext cx="502920" cy="5029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783080" y="53035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listas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1783080" y="57150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Estilo playlists para organizar eventos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6263640" y="5074920"/>
            <a:ext cx="49834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BBE1FA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5349240"/>
            <a:ext cx="502920" cy="50292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132320" y="53035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 eventos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7132320" y="57150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Estrelas + notas pessoais para cada evento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576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32004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e Objetivos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48640" y="9144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C7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pede o enunciado e o que entregámos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5486400" cy="4754880"/>
          </a:xfrm>
          <a:prstGeom prst="roundRect">
            <a:avLst>
              <a:gd name="adj" fmla="val 2308"/>
            </a:avLst>
          </a:prstGeom>
          <a:solidFill>
            <a:srgbClr val="F5F9FC"/>
          </a:solidFill>
          <a:ln w="12700">
            <a:solidFill>
              <a:srgbClr val="F5F9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17830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Enunciado M2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22960" y="2331720"/>
            <a:ext cx="49377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Web Cliente em ReactJS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Consumir API REST protegida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 e autorização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Containerização com Docker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Submissão GitHub + DockerHub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ao vivo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309360" y="1600200"/>
            <a:ext cx="5486400" cy="4754880"/>
          </a:xfrm>
          <a:prstGeom prst="roundRect">
            <a:avLst>
              <a:gd name="adj" fmla="val 2308"/>
            </a:avLst>
          </a:prstGeom>
          <a:solidFill>
            <a:srgbClr val="0F4C75"/>
          </a:solidFill>
          <a:ln w="12700">
            <a:solidFill>
              <a:srgbClr val="0F4C7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583680" y="17830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entregámos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583680" y="2331720"/>
            <a:ext cx="49377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BBE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React 18 + Vite + Material UI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BBE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próprio Node.js + Express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BBE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dados MySQL relacional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BBE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 JWT + bcrypt + encriptação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BBE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com 3 serviços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BBE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Animações com Framer Motion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576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32004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 a app?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48640" y="9144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C7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Analogia: pensar a app como um restaurante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548640" y="1691640"/>
            <a:ext cx="3657600" cy="4663440"/>
          </a:xfrm>
          <a:prstGeom prst="roundRect">
            <a:avLst>
              <a:gd name="adj" fmla="val 3000"/>
            </a:avLst>
          </a:prstGeom>
          <a:solidFill>
            <a:srgbClr val="F5F9FC"/>
          </a:solidFill>
          <a:ln w="12700">
            <a:solidFill>
              <a:srgbClr val="F5F9F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920240" y="1920240"/>
            <a:ext cx="914400" cy="914400"/>
          </a:xfrm>
          <a:prstGeom prst="ellipse">
            <a:avLst/>
          </a:prstGeom>
          <a:solidFill>
            <a:srgbClr val="0F4C75"/>
          </a:solidFill>
          <a:ln w="12700">
            <a:solidFill>
              <a:srgbClr val="0F4C75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6272" y="2176272"/>
            <a:ext cx="411480" cy="411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" y="3017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(React)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548640" y="3429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328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salão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822960" y="393192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o cliente está. Vê o menu, escolhe pratos, faz pedidos. É a parte visível.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480560" y="1691640"/>
            <a:ext cx="3657600" cy="4663440"/>
          </a:xfrm>
          <a:prstGeom prst="roundRect">
            <a:avLst>
              <a:gd name="adj" fmla="val 3000"/>
            </a:avLst>
          </a:prstGeom>
          <a:solidFill>
            <a:srgbClr val="F5F9FC"/>
          </a:solidFill>
          <a:ln w="12700">
            <a:solidFill>
              <a:srgbClr val="F5F9F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852160" y="1920240"/>
            <a:ext cx="914400" cy="914400"/>
          </a:xfrm>
          <a:prstGeom prst="ellipse">
            <a:avLst/>
          </a:prstGeom>
          <a:solidFill>
            <a:srgbClr val="0F4C75"/>
          </a:solidFill>
          <a:ln w="12700">
            <a:solidFill>
              <a:srgbClr val="0F4C75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8192" y="2176272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480560" y="3017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(API)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4480560" y="3429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328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empregado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4754880" y="393192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Recebe os pedidos do salão, valida, vai à cozinha buscar e traz de volta.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8412480" y="1691640"/>
            <a:ext cx="3657600" cy="4663440"/>
          </a:xfrm>
          <a:prstGeom prst="roundRect">
            <a:avLst>
              <a:gd name="adj" fmla="val 3000"/>
            </a:avLst>
          </a:prstGeom>
          <a:solidFill>
            <a:srgbClr val="F5F9FC"/>
          </a:solidFill>
          <a:ln w="12700">
            <a:solidFill>
              <a:srgbClr val="F5F9F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784080" y="1920240"/>
            <a:ext cx="914400" cy="914400"/>
          </a:xfrm>
          <a:prstGeom prst="ellipse">
            <a:avLst/>
          </a:prstGeom>
          <a:solidFill>
            <a:srgbClr val="0F4C75"/>
          </a:solidFill>
          <a:ln w="12700">
            <a:solidFill>
              <a:srgbClr val="0F4C75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40112" y="2176272"/>
            <a:ext cx="411480" cy="41148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412480" y="3017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8412480" y="3429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328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cozinha + despensa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8686800" y="393192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estão guardados os ingredientes (dados). Só o empregado tem acesso.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548640" y="644652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C7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cliente nunca fala diretamente com a cozinha — o empregado é a única ponte.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576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32004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técnica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48640" y="9144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C7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architecture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1463040" y="1508760"/>
            <a:ext cx="9235440" cy="1325880"/>
          </a:xfrm>
          <a:prstGeom prst="roundRect">
            <a:avLst>
              <a:gd name="adj" fmla="val 8276"/>
            </a:avLst>
          </a:prstGeom>
          <a:solidFill>
            <a:srgbClr val="0F4C75"/>
          </a:solidFill>
          <a:ln w="12700">
            <a:solidFill>
              <a:srgbClr val="0F4C7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737360" y="169164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— React 18 + Material UI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737360" y="210312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BE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do utilizador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737360" y="242316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BE1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localhost:3000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1463040" y="3108960"/>
            <a:ext cx="9235440" cy="1325880"/>
          </a:xfrm>
          <a:prstGeom prst="roundRect">
            <a:avLst>
              <a:gd name="adj" fmla="val 8276"/>
            </a:avLst>
          </a:prstGeom>
          <a:solidFill>
            <a:srgbClr val="0F4C75"/>
          </a:solidFill>
          <a:ln w="12700">
            <a:solidFill>
              <a:srgbClr val="0F4C7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737360" y="329184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— Node.js + Express + JWT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737360" y="370332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BE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backend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737360" y="402336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BE1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localhost:4000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1463040" y="4709160"/>
            <a:ext cx="9235440" cy="1325880"/>
          </a:xfrm>
          <a:prstGeom prst="roundRect">
            <a:avLst>
              <a:gd name="adj" fmla="val 8276"/>
            </a:avLst>
          </a:prstGeom>
          <a:solidFill>
            <a:srgbClr val="0F4C75"/>
          </a:solidFill>
          <a:ln w="12700">
            <a:solidFill>
              <a:srgbClr val="0F4C7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737360" y="489204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dados — MySQL 8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737360" y="530352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BE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Persistência de dados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737360" y="562356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BE1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localhost:3306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760720" y="280720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28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6400800" y="28163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· JSON · JWT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760720" y="440740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28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6400800" y="44165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· mysql2 driver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48640" y="626364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C7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orquestrado com Docker Compose — um único comando arranca os 3 serviços.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576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32004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o React?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48640" y="9144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C7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Pensar em componentes — como peças de LEGO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548640" y="1691640"/>
            <a:ext cx="5486400" cy="4572000"/>
          </a:xfrm>
          <a:prstGeom prst="roundRect">
            <a:avLst>
              <a:gd name="adj" fmla="val 2400"/>
            </a:avLst>
          </a:prstGeom>
          <a:solidFill>
            <a:srgbClr val="F5F9FC"/>
          </a:solidFill>
          <a:ln w="12700">
            <a:solidFill>
              <a:srgbClr val="F5F9F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18745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ideia central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22960" y="233172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vez de uma página HTML enorme,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construímos a app combinando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peças pequenas e reutilizáveis chamadas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3840480"/>
            <a:ext cx="4937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componente: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 o seu HTML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 o seu CSS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 a sua lógica JavaScript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ser usado N vezes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309360" y="1691640"/>
            <a:ext cx="5486400" cy="4572000"/>
          </a:xfrm>
          <a:prstGeom prst="roundRect">
            <a:avLst>
              <a:gd name="adj" fmla="val 2400"/>
            </a:avLst>
          </a:prstGeom>
          <a:solidFill>
            <a:srgbClr val="0F4C75"/>
          </a:solidFill>
          <a:ln w="12700">
            <a:solidFill>
              <a:srgbClr val="0F4C7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0" y="18745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no FestivAll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583680" y="2331720"/>
            <a:ext cx="49377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i="1" dirty="0">
                <a:solidFill>
                  <a:srgbClr val="BBE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componente EventCard...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usado em 3 sítios: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BBE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(eventos em destaque)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BBE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(resultados de pesquisa)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BBE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Favoritos (eventos guardados)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Escrito uma vez. Reutilizado 3 vezes.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576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32004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nossos componentes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48640" y="9144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C7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peça com a sua responsabilidade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548640" y="1691640"/>
            <a:ext cx="3200400" cy="4572000"/>
          </a:xfrm>
          <a:prstGeom prst="roundRect">
            <a:avLst>
              <a:gd name="adj" fmla="val 3429"/>
            </a:avLst>
          </a:prstGeom>
          <a:solidFill>
            <a:srgbClr val="0F4C75"/>
          </a:solidFill>
          <a:ln w="12700">
            <a:solidFill>
              <a:srgbClr val="0F4C7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210312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</a:t>
            </a:r>
            <a:endParaRPr lang="en-US" sz="12000" dirty="0"/>
          </a:p>
        </p:txBody>
      </p:sp>
      <p:sp>
        <p:nvSpPr>
          <p:cNvPr id="7" name="Text 4"/>
          <p:cNvSpPr/>
          <p:nvPr/>
        </p:nvSpPr>
        <p:spPr>
          <a:xfrm>
            <a:off x="548640" y="39319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BE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48640" y="43434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BE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criados de raiz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5166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BE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funcionais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54864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BE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(com React Hooks)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023360" y="1691640"/>
            <a:ext cx="7680960" cy="1078992"/>
          </a:xfrm>
          <a:prstGeom prst="roundRect">
            <a:avLst>
              <a:gd name="adj" fmla="val 8475"/>
            </a:avLst>
          </a:prstGeom>
          <a:solidFill>
            <a:srgbClr val="F5F9FC"/>
          </a:solidFill>
          <a:ln w="12700">
            <a:solidFill>
              <a:srgbClr val="F5F9F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251960" y="18013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Páginas (10)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251960" y="21945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· Dashboard · Events · EventDetail · Artists · Favorites · History · Lists · Ratings · Profile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023360" y="2880360"/>
            <a:ext cx="7680960" cy="1078992"/>
          </a:xfrm>
          <a:prstGeom prst="roundRect">
            <a:avLst>
              <a:gd name="adj" fmla="val 8475"/>
            </a:avLst>
          </a:prstGeom>
          <a:solidFill>
            <a:srgbClr val="F5F9FC"/>
          </a:solidFill>
          <a:ln w="12700">
            <a:solidFill>
              <a:srgbClr val="F5F9F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251960" y="29900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Reutilizáveis (4)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251960" y="33832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NavBar · Footer · EventCard · SearchBar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023360" y="4069080"/>
            <a:ext cx="7680960" cy="1078992"/>
          </a:xfrm>
          <a:prstGeom prst="roundRect">
            <a:avLst>
              <a:gd name="adj" fmla="val 8475"/>
            </a:avLst>
          </a:prstGeom>
          <a:solidFill>
            <a:srgbClr val="F5F9FC"/>
          </a:solidFill>
          <a:ln w="12700">
            <a:solidFill>
              <a:srgbClr val="F5F9F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251960" y="41788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Providers (2)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4251960" y="45720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AuthProvider · FavoritesProvider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023360" y="5257800"/>
            <a:ext cx="7680960" cy="1078992"/>
          </a:xfrm>
          <a:prstGeom prst="roundRect">
            <a:avLst>
              <a:gd name="adj" fmla="val 8475"/>
            </a:avLst>
          </a:prstGeom>
          <a:solidFill>
            <a:srgbClr val="F5F9FC"/>
          </a:solidFill>
          <a:ln w="12700">
            <a:solidFill>
              <a:srgbClr val="F5F9F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4251960" y="53675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Estruturais (3)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4251960" y="57607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· AppShell · RequireAuth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576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32004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guardamos os dados?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48640" y="9144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C7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em 3 níveis — do efémero ao permanente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548640" y="1691640"/>
            <a:ext cx="3657600" cy="4663440"/>
          </a:xfrm>
          <a:prstGeom prst="roundRect">
            <a:avLst>
              <a:gd name="adj" fmla="val 3000"/>
            </a:avLst>
          </a:prstGeom>
          <a:solidFill>
            <a:srgbClr val="F5F9FC"/>
          </a:solidFill>
          <a:ln w="12700">
            <a:solidFill>
              <a:srgbClr val="F5F9F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920240" y="1874520"/>
            <a:ext cx="914400" cy="914400"/>
          </a:xfrm>
          <a:prstGeom prst="ellipse">
            <a:avLst/>
          </a:prstGeom>
          <a:solidFill>
            <a:srgbClr val="BBE1FA"/>
          </a:solidFill>
          <a:ln w="12700">
            <a:solidFill>
              <a:srgbClr val="BBE1F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920240" y="1874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548640" y="2926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useState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548640" y="3291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C7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local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22960" y="3749040"/>
            <a:ext cx="31089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BBE1F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37490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328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"Um post-it na mesa"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22960" y="438912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rápidos do componente — campos de formulário, loading, listas temporárias. Desaparecem ao mudar de página.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480560" y="1691640"/>
            <a:ext cx="3657600" cy="4663440"/>
          </a:xfrm>
          <a:prstGeom prst="roundRect">
            <a:avLst>
              <a:gd name="adj" fmla="val 3000"/>
            </a:avLst>
          </a:prstGeom>
          <a:solidFill>
            <a:srgbClr val="F5F9FC"/>
          </a:solidFill>
          <a:ln w="12700">
            <a:solidFill>
              <a:srgbClr val="F5F9F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852160" y="1874520"/>
            <a:ext cx="914400" cy="914400"/>
          </a:xfrm>
          <a:prstGeom prst="ellipse">
            <a:avLst/>
          </a:prstGeom>
          <a:solidFill>
            <a:srgbClr val="3282B8"/>
          </a:solidFill>
          <a:ln w="12700">
            <a:solidFill>
              <a:srgbClr val="3282B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852160" y="1874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800" dirty="0"/>
          </a:p>
        </p:txBody>
      </p:sp>
      <p:sp>
        <p:nvSpPr>
          <p:cNvPr id="16" name="Text 13"/>
          <p:cNvSpPr/>
          <p:nvPr/>
        </p:nvSpPr>
        <p:spPr>
          <a:xfrm>
            <a:off x="4480560" y="2926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API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4480560" y="3291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C7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global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754880" y="3749040"/>
            <a:ext cx="31089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BBE1F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754880" y="37490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328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"Um quadro na sala"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754880" y="438912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partilhados entre páginas — quem está autenticado, lista de favoritos atual. Acessível a todos os componentes.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8412480" y="1691640"/>
            <a:ext cx="3657600" cy="4663440"/>
          </a:xfrm>
          <a:prstGeom prst="roundRect">
            <a:avLst>
              <a:gd name="adj" fmla="val 3000"/>
            </a:avLst>
          </a:prstGeom>
          <a:solidFill>
            <a:srgbClr val="F5F9FC"/>
          </a:solidFill>
          <a:ln w="12700">
            <a:solidFill>
              <a:srgbClr val="F5F9F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9784080" y="1874520"/>
            <a:ext cx="914400" cy="914400"/>
          </a:xfrm>
          <a:prstGeom prst="ellipse">
            <a:avLst/>
          </a:prstGeom>
          <a:solidFill>
            <a:srgbClr val="0F4C75"/>
          </a:solidFill>
          <a:ln w="12700">
            <a:solidFill>
              <a:srgbClr val="0F4C7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784080" y="1874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800" dirty="0"/>
          </a:p>
        </p:txBody>
      </p:sp>
      <p:sp>
        <p:nvSpPr>
          <p:cNvPr id="24" name="Text 21"/>
          <p:cNvSpPr/>
          <p:nvPr/>
        </p:nvSpPr>
        <p:spPr>
          <a:xfrm>
            <a:off x="8412480" y="2926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8412480" y="3291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C7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Persistência real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8686800" y="3749040"/>
            <a:ext cx="31089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BBE1F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686800" y="37490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328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"Um arquivo numa gaveta"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8686800" y="438912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que sobrevivem a tudo — fecho do browser, reinício do PC, logout. Cada utilizador tem os seus.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576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32004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protegido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48640" y="9144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C7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RequireAuth como porteiro da app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2194560" cy="1280160"/>
          </a:xfrm>
          <a:prstGeom prst="roundRect">
            <a:avLst>
              <a:gd name="adj" fmla="val 7143"/>
            </a:avLst>
          </a:prstGeom>
          <a:solidFill>
            <a:srgbClr val="F5F9FC"/>
          </a:solidFill>
          <a:ln w="12700">
            <a:solidFill>
              <a:srgbClr val="F5F9F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48640" y="16916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C7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Utilizador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2011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28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/events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48640" y="2468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C7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 outra rota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78892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28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3337560" y="1554480"/>
            <a:ext cx="2651760" cy="1280160"/>
          </a:xfrm>
          <a:prstGeom prst="roundRect">
            <a:avLst>
              <a:gd name="adj" fmla="val 7143"/>
            </a:avLst>
          </a:prstGeom>
          <a:solidFill>
            <a:srgbClr val="0F4C75"/>
          </a:solidFill>
          <a:ln w="12700">
            <a:solidFill>
              <a:srgbClr val="0F4C75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69164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37560" y="20116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RequireAuth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337560" y="24231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BE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AuthContext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60350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28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5" name="Shape 11"/>
          <p:cNvSpPr/>
          <p:nvPr/>
        </p:nvSpPr>
        <p:spPr>
          <a:xfrm>
            <a:off x="6537960" y="960120"/>
            <a:ext cx="5212080" cy="1005840"/>
          </a:xfrm>
          <a:prstGeom prst="roundRect">
            <a:avLst>
              <a:gd name="adj" fmla="val 9091"/>
            </a:avLst>
          </a:prstGeom>
          <a:solidFill>
            <a:srgbClr val="F5F9FC"/>
          </a:solidFill>
          <a:ln w="12700">
            <a:solidFill>
              <a:srgbClr val="3282B8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537960" y="105156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C7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 JWT válido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537960" y="137160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28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permitido → renderiza a página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6537960" y="2148840"/>
            <a:ext cx="5212080" cy="1005840"/>
          </a:xfrm>
          <a:prstGeom prst="roundRect">
            <a:avLst>
              <a:gd name="adj" fmla="val 9091"/>
            </a:avLst>
          </a:prstGeom>
          <a:solidFill>
            <a:srgbClr val="F5F9F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537960" y="22402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C7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JWT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6537960" y="2542032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 → /login</a:t>
            </a:r>
            <a:endParaRPr lang="en-US" sz="1500" dirty="0"/>
          </a:p>
        </p:txBody>
      </p:sp>
      <p:sp>
        <p:nvSpPr>
          <p:cNvPr id="21" name="Shape 17"/>
          <p:cNvSpPr/>
          <p:nvPr/>
        </p:nvSpPr>
        <p:spPr>
          <a:xfrm>
            <a:off x="548640" y="3383280"/>
            <a:ext cx="11155680" cy="2286000"/>
          </a:xfrm>
          <a:prstGeom prst="roundRect">
            <a:avLst>
              <a:gd name="adj" fmla="val 4000"/>
            </a:avLst>
          </a:prstGeom>
          <a:solidFill>
            <a:srgbClr val="1B262C"/>
          </a:solidFill>
          <a:ln w="12700">
            <a:solidFill>
              <a:srgbClr val="1B262C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777240" y="352044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BE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RequireAuth.jsx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777240" y="384048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RequireAuth({ children })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BE1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{ isAuthenticated } = useAuth();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BE1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(!isAuthenticated) return &lt;Navigate to="/login" /&gt;;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BE1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children;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548640" y="58978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C7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Analogia: o RequireAuth é o porteiro do edifício — pede sempre o cartão antes de deixar passar.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576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32004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backend e a segurança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48640" y="9144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C7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protegemos os dados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548640" y="1691640"/>
            <a:ext cx="5486400" cy="2103120"/>
          </a:xfrm>
          <a:prstGeom prst="roundRect">
            <a:avLst>
              <a:gd name="adj" fmla="val 5217"/>
            </a:avLst>
          </a:prstGeom>
          <a:solidFill>
            <a:srgbClr val="F5F9FC"/>
          </a:solidFill>
          <a:ln w="12700">
            <a:solidFill>
              <a:srgbClr val="F5F9F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77240" y="1965960"/>
            <a:ext cx="640080" cy="640080"/>
          </a:xfrm>
          <a:prstGeom prst="ellipse">
            <a:avLst/>
          </a:prstGeom>
          <a:solidFill>
            <a:srgbClr val="0F4C75"/>
          </a:solidFill>
          <a:ln w="12700">
            <a:solidFill>
              <a:srgbClr val="0F4C75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2121408"/>
            <a:ext cx="329184" cy="32918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54480" y="196596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hashed (bcrypt)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1554480" y="2468880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password nunca é guardada em texto puro. Bcrypt transforma-a num hash irreversível.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6263640" y="1691640"/>
            <a:ext cx="5486400" cy="2103120"/>
          </a:xfrm>
          <a:prstGeom prst="roundRect">
            <a:avLst>
              <a:gd name="adj" fmla="val 5217"/>
            </a:avLst>
          </a:prstGeom>
          <a:solidFill>
            <a:srgbClr val="F5F9FC"/>
          </a:solidFill>
          <a:ln w="12700">
            <a:solidFill>
              <a:srgbClr val="F5F9F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492240" y="1965960"/>
            <a:ext cx="640080" cy="640080"/>
          </a:xfrm>
          <a:prstGeom prst="ellipse">
            <a:avLst/>
          </a:prstGeom>
          <a:solidFill>
            <a:srgbClr val="0F4C75"/>
          </a:solidFill>
          <a:ln w="12700">
            <a:solidFill>
              <a:srgbClr val="0F4C75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7688" y="2121408"/>
            <a:ext cx="329184" cy="32918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269480" y="196596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Key encriptada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7269480" y="2468880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chave da Ticketmaster é encriptada com chave secreta antes de guardar.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548640" y="4023360"/>
            <a:ext cx="5486400" cy="2103120"/>
          </a:xfrm>
          <a:prstGeom prst="roundRect">
            <a:avLst>
              <a:gd name="adj" fmla="val 5217"/>
            </a:avLst>
          </a:prstGeom>
          <a:solidFill>
            <a:srgbClr val="F5F9FC"/>
          </a:solidFill>
          <a:ln w="12700">
            <a:solidFill>
              <a:srgbClr val="F5F9F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777240" y="4297680"/>
            <a:ext cx="640080" cy="640080"/>
          </a:xfrm>
          <a:prstGeom prst="ellipse">
            <a:avLst/>
          </a:prstGeom>
          <a:solidFill>
            <a:srgbClr val="0F4C75"/>
          </a:solidFill>
          <a:ln w="12700">
            <a:solidFill>
              <a:srgbClr val="0F4C75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4453128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554480" y="429768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em cada pedido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1554480" y="4800600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no header Authorization: Bearer. Middleware valida em cada endpoint.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6263640" y="4023360"/>
            <a:ext cx="5486400" cy="2103120"/>
          </a:xfrm>
          <a:prstGeom prst="roundRect">
            <a:avLst>
              <a:gd name="adj" fmla="val 5217"/>
            </a:avLst>
          </a:prstGeom>
          <a:solidFill>
            <a:srgbClr val="F5F9FC"/>
          </a:solidFill>
          <a:ln w="12700">
            <a:solidFill>
              <a:srgbClr val="F5F9F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6492240" y="4297680"/>
            <a:ext cx="640080" cy="640080"/>
          </a:xfrm>
          <a:prstGeom prst="ellipse">
            <a:avLst/>
          </a:prstGeom>
          <a:solidFill>
            <a:srgbClr val="0F4C75"/>
          </a:solidFill>
          <a:ln w="12700">
            <a:solidFill>
              <a:srgbClr val="0F4C75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7688" y="4453128"/>
            <a:ext cx="329184" cy="32918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269480" y="429768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1600" dirty="0"/>
          </a:p>
        </p:txBody>
      </p:sp>
      <p:sp>
        <p:nvSpPr>
          <p:cNvPr id="24" name="Text 17"/>
          <p:cNvSpPr/>
          <p:nvPr/>
        </p:nvSpPr>
        <p:spPr>
          <a:xfrm>
            <a:off x="7269480" y="4800600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pedidos / 15min no /auth. 100 / min no resto. Proteção contra força bruta.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576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32004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dados MySQL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48640" y="9144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C7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tabelas relacionais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5029200" y="1828800"/>
            <a:ext cx="2103120" cy="640080"/>
          </a:xfrm>
          <a:prstGeom prst="roundRect">
            <a:avLst>
              <a:gd name="adj" fmla="val 11429"/>
            </a:avLst>
          </a:prstGeom>
          <a:solidFill>
            <a:srgbClr val="0F4C75"/>
          </a:solidFill>
          <a:ln w="12700">
            <a:solidFill>
              <a:srgbClr val="0F4C7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0" y="18288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1325880" y="3200400"/>
            <a:ext cx="4754880" cy="1188720"/>
          </a:xfrm>
          <a:prstGeom prst="line">
            <a:avLst/>
          </a:prstGeom>
          <a:noFill/>
          <a:ln w="12700">
            <a:solidFill>
              <a:srgbClr val="3282B8"/>
            </a:solidFill>
            <a:prstDash val="dash"/>
          </a:ln>
        </p:spPr>
      </p:sp>
      <p:sp>
        <p:nvSpPr>
          <p:cNvPr id="8" name="Shape 5"/>
          <p:cNvSpPr/>
          <p:nvPr/>
        </p:nvSpPr>
        <p:spPr>
          <a:xfrm>
            <a:off x="3200400" y="3200400"/>
            <a:ext cx="2880360" cy="1188720"/>
          </a:xfrm>
          <a:prstGeom prst="line">
            <a:avLst/>
          </a:prstGeom>
          <a:noFill/>
          <a:ln w="12700">
            <a:solidFill>
              <a:srgbClr val="3282B8"/>
            </a:solidFill>
            <a:prstDash val="dash"/>
          </a:ln>
        </p:spPr>
      </p:sp>
      <p:sp>
        <p:nvSpPr>
          <p:cNvPr id="9" name="Shape 6"/>
          <p:cNvSpPr/>
          <p:nvPr/>
        </p:nvSpPr>
        <p:spPr>
          <a:xfrm>
            <a:off x="5074920" y="3200400"/>
            <a:ext cx="1005840" cy="1188720"/>
          </a:xfrm>
          <a:prstGeom prst="line">
            <a:avLst/>
          </a:prstGeom>
          <a:noFill/>
          <a:ln w="12700">
            <a:solidFill>
              <a:srgbClr val="3282B8"/>
            </a:solidFill>
            <a:prstDash val="dash"/>
          </a:ln>
        </p:spPr>
      </p:sp>
      <p:sp>
        <p:nvSpPr>
          <p:cNvPr id="10" name="Shape 7"/>
          <p:cNvSpPr/>
          <p:nvPr/>
        </p:nvSpPr>
        <p:spPr>
          <a:xfrm flipH="1">
            <a:off x="6949440" y="3200400"/>
            <a:ext cx="-868680" cy="1188720"/>
          </a:xfrm>
          <a:prstGeom prst="line">
            <a:avLst/>
          </a:prstGeom>
          <a:noFill/>
          <a:ln w="12700">
            <a:solidFill>
              <a:srgbClr val="3282B8"/>
            </a:solidFill>
            <a:prstDash val="dash"/>
          </a:ln>
        </p:spPr>
      </p:sp>
      <p:sp>
        <p:nvSpPr>
          <p:cNvPr id="11" name="Shape 8"/>
          <p:cNvSpPr/>
          <p:nvPr/>
        </p:nvSpPr>
        <p:spPr>
          <a:xfrm flipH="1">
            <a:off x="8823960" y="3200400"/>
            <a:ext cx="-2743200" cy="1188720"/>
          </a:xfrm>
          <a:prstGeom prst="line">
            <a:avLst/>
          </a:prstGeom>
          <a:noFill/>
          <a:ln w="12700">
            <a:solidFill>
              <a:srgbClr val="3282B8"/>
            </a:solidFill>
            <a:prstDash val="dash"/>
          </a:ln>
        </p:spPr>
      </p:sp>
      <p:sp>
        <p:nvSpPr>
          <p:cNvPr id="12" name="Shape 9"/>
          <p:cNvSpPr/>
          <p:nvPr/>
        </p:nvSpPr>
        <p:spPr>
          <a:xfrm flipH="1">
            <a:off x="10698480" y="3200400"/>
            <a:ext cx="-4617720" cy="1188720"/>
          </a:xfrm>
          <a:prstGeom prst="line">
            <a:avLst/>
          </a:prstGeom>
          <a:noFill/>
          <a:ln w="12700">
            <a:solidFill>
              <a:srgbClr val="3282B8"/>
            </a:solidFill>
            <a:prstDash val="dash"/>
          </a:ln>
        </p:spPr>
      </p:sp>
      <p:sp>
        <p:nvSpPr>
          <p:cNvPr id="13" name="Shape 10"/>
          <p:cNvSpPr/>
          <p:nvPr/>
        </p:nvSpPr>
        <p:spPr>
          <a:xfrm>
            <a:off x="548640" y="4297680"/>
            <a:ext cx="1691640" cy="548640"/>
          </a:xfrm>
          <a:prstGeom prst="roundRect">
            <a:avLst>
              <a:gd name="adj" fmla="val 13333"/>
            </a:avLst>
          </a:prstGeom>
          <a:solidFill>
            <a:srgbClr val="F5F9FC"/>
          </a:solidFill>
          <a:ln w="12700">
            <a:solidFill>
              <a:srgbClr val="0F4C7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42976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favorites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2423160" y="4297680"/>
            <a:ext cx="1691640" cy="548640"/>
          </a:xfrm>
          <a:prstGeom prst="roundRect">
            <a:avLst>
              <a:gd name="adj" fmla="val 13333"/>
            </a:avLst>
          </a:prstGeom>
          <a:solidFill>
            <a:srgbClr val="F5F9FC"/>
          </a:solidFill>
          <a:ln w="12700">
            <a:solidFill>
              <a:srgbClr val="0F4C7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423160" y="42976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297680" y="4297680"/>
            <a:ext cx="1691640" cy="548640"/>
          </a:xfrm>
          <a:prstGeom prst="roundRect">
            <a:avLst>
              <a:gd name="adj" fmla="val 13333"/>
            </a:avLst>
          </a:prstGeom>
          <a:solidFill>
            <a:srgbClr val="F5F9FC"/>
          </a:solidFill>
          <a:ln w="12700">
            <a:solidFill>
              <a:srgbClr val="0F4C7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297680" y="42976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saved_searches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172200" y="4297680"/>
            <a:ext cx="1691640" cy="548640"/>
          </a:xfrm>
          <a:prstGeom prst="roundRect">
            <a:avLst>
              <a:gd name="adj" fmla="val 13333"/>
            </a:avLst>
          </a:prstGeom>
          <a:solidFill>
            <a:srgbClr val="F5F9FC"/>
          </a:solidFill>
          <a:ln w="12700">
            <a:solidFill>
              <a:srgbClr val="0F4C7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172200" y="42976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8046720" y="4297680"/>
            <a:ext cx="1691640" cy="548640"/>
          </a:xfrm>
          <a:prstGeom prst="roundRect">
            <a:avLst>
              <a:gd name="adj" fmla="val 13333"/>
            </a:avLst>
          </a:prstGeom>
          <a:solidFill>
            <a:srgbClr val="F5F9FC"/>
          </a:solidFill>
          <a:ln w="12700">
            <a:solidFill>
              <a:srgbClr val="0F4C7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046720" y="42976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9921240" y="4297680"/>
            <a:ext cx="1691640" cy="548640"/>
          </a:xfrm>
          <a:prstGeom prst="roundRect">
            <a:avLst>
              <a:gd name="adj" fmla="val 13333"/>
            </a:avLst>
          </a:prstGeom>
          <a:solidFill>
            <a:srgbClr val="F5F9FC"/>
          </a:solidFill>
          <a:ln w="12700">
            <a:solidFill>
              <a:srgbClr val="0F4C7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921240" y="42976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list_events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029200" y="35204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28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548640" y="5120640"/>
            <a:ext cx="11155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Caraterísticas do schema: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Chaves estrangeiras (FK) com ON DELETE CASCADE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Restrições de unicidade (não duplicar favoritos do mesmo evento)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 JSON para event_data e filters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Timestamps automáticos (created_at, viewed_at, rated_at)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Docker para persistência entre reinícios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576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32004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UI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48640" y="9144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C7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prontos, profissionais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548640" y="1691640"/>
            <a:ext cx="3200400" cy="4572000"/>
          </a:xfrm>
          <a:prstGeom prst="roundRect">
            <a:avLst>
              <a:gd name="adj" fmla="val 3429"/>
            </a:avLst>
          </a:prstGeom>
          <a:solidFill>
            <a:srgbClr val="0F4C75"/>
          </a:solidFill>
          <a:ln w="12700">
            <a:solidFill>
              <a:srgbClr val="0F4C7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219456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3000" dirty="0"/>
          </a:p>
        </p:txBody>
      </p:sp>
      <p:sp>
        <p:nvSpPr>
          <p:cNvPr id="7" name="Text 4"/>
          <p:cNvSpPr/>
          <p:nvPr/>
        </p:nvSpPr>
        <p:spPr>
          <a:xfrm>
            <a:off x="548640" y="40233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BBE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MUI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548640" y="4434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BE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uso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5349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BE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tema customizado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023360" y="1691640"/>
            <a:ext cx="7680960" cy="1097280"/>
          </a:xfrm>
          <a:prstGeom prst="roundRect">
            <a:avLst>
              <a:gd name="adj" fmla="val 8333"/>
            </a:avLst>
          </a:prstGeom>
          <a:solidFill>
            <a:srgbClr val="F5F9FC"/>
          </a:solidFill>
          <a:ln w="12700">
            <a:solidFill>
              <a:srgbClr val="F5F9F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251960" y="1828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251960" y="22402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· TextField · Button · Typography · Box · Alert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023360" y="2898648"/>
            <a:ext cx="7680960" cy="1097280"/>
          </a:xfrm>
          <a:prstGeom prst="roundRect">
            <a:avLst>
              <a:gd name="adj" fmla="val 8333"/>
            </a:avLst>
          </a:prstGeom>
          <a:solidFill>
            <a:srgbClr val="F5F9FC"/>
          </a:solidFill>
          <a:ln w="12700">
            <a:solidFill>
              <a:srgbClr val="F5F9F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251960" y="303580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NavBar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251960" y="344728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AppBar · Toolbar · Button · Box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023360" y="4105656"/>
            <a:ext cx="7680960" cy="1097280"/>
          </a:xfrm>
          <a:prstGeom prst="roundRect">
            <a:avLst>
              <a:gd name="adj" fmla="val 8333"/>
            </a:avLst>
          </a:prstGeom>
          <a:solidFill>
            <a:srgbClr val="F5F9FC"/>
          </a:solidFill>
          <a:ln w="12700">
            <a:solidFill>
              <a:srgbClr val="F5F9F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4251960" y="424281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EventCard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251960" y="4654296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· CardMedia · CardContent · Typography · IconButton · Chip · Box · Button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023360" y="5312664"/>
            <a:ext cx="7680960" cy="1097280"/>
          </a:xfrm>
          <a:prstGeom prst="roundRect">
            <a:avLst>
              <a:gd name="adj" fmla="val 8333"/>
            </a:avLst>
          </a:prstGeom>
          <a:solidFill>
            <a:srgbClr val="F5F9FC"/>
          </a:solidFill>
          <a:ln w="12700">
            <a:solidFill>
              <a:srgbClr val="F5F9F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4251960" y="544982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SearchBar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4251960" y="5861304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TextField · Select · MenuItem · FormControl · InputLabel · Button · Box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576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32004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Animações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48640" y="9144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C7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Framer Motion + CSS — UX polida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548640" y="1691640"/>
            <a:ext cx="3657600" cy="4572000"/>
          </a:xfrm>
          <a:prstGeom prst="roundRect">
            <a:avLst>
              <a:gd name="adj" fmla="val 3000"/>
            </a:avLst>
          </a:prstGeom>
          <a:solidFill>
            <a:srgbClr val="F5F9FC"/>
          </a:solidFill>
          <a:ln w="12700">
            <a:solidFill>
              <a:srgbClr val="F5F9F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0" y="1920240"/>
            <a:ext cx="548640" cy="5486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8640" y="2651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 no Login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548640" y="3017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C7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Login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822960" y="3474720"/>
            <a:ext cx="31089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abres a página de login, o painel surge com um efeito de mola — cresce de 80% para 100% do tamanho com transição spring.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777240" y="5257800"/>
            <a:ext cx="3200400" cy="777240"/>
          </a:xfrm>
          <a:prstGeom prst="roundRect">
            <a:avLst>
              <a:gd name="adj" fmla="val 5882"/>
            </a:avLst>
          </a:prstGeom>
          <a:solidFill>
            <a:srgbClr val="1B262C"/>
          </a:solidFill>
          <a:ln w="12700">
            <a:solidFill>
              <a:srgbClr val="1B262C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68680" y="53035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E1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initial={{ scale: 0.8 }}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BE1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animate={{ scale: 1 }}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4480560" y="1691640"/>
            <a:ext cx="3657600" cy="4572000"/>
          </a:xfrm>
          <a:prstGeom prst="roundRect">
            <a:avLst>
              <a:gd name="adj" fmla="val 3000"/>
            </a:avLst>
          </a:prstGeom>
          <a:solidFill>
            <a:srgbClr val="F5F9FC"/>
          </a:solidFill>
          <a:ln w="12700">
            <a:solidFill>
              <a:srgbClr val="F5F9F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920240"/>
            <a:ext cx="548640" cy="5486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480560" y="2651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nos Cards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4480560" y="3017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C7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EventCard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4754880" y="3474720"/>
            <a:ext cx="31089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passar o rato sobre um card de evento, ele cresce subtilmente 4%. Feedback visual claro sem ser exagerado.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4709160" y="5257800"/>
            <a:ext cx="3200400" cy="777240"/>
          </a:xfrm>
          <a:prstGeom prst="roundRect">
            <a:avLst>
              <a:gd name="adj" fmla="val 5882"/>
            </a:avLst>
          </a:prstGeom>
          <a:solidFill>
            <a:srgbClr val="1B262C"/>
          </a:solidFill>
          <a:ln w="12700">
            <a:solidFill>
              <a:srgbClr val="1B262C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4800600" y="53035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E1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whileHover={{ scale: 1.04 }}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8412480" y="1691640"/>
            <a:ext cx="3657600" cy="4572000"/>
          </a:xfrm>
          <a:prstGeom prst="roundRect">
            <a:avLst>
              <a:gd name="adj" fmla="val 3000"/>
            </a:avLst>
          </a:prstGeom>
          <a:solidFill>
            <a:srgbClr val="F5F9FC"/>
          </a:solidFill>
          <a:ln w="12700">
            <a:solidFill>
              <a:srgbClr val="F5F9F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6960" y="1920240"/>
            <a:ext cx="548640" cy="54864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412480" y="2651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Sublinhado na NavBar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8412480" y="3017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C7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de navegação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8686800" y="3474720"/>
            <a:ext cx="31089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hover dos links da navbar, aparece um sublinhado azul que expande do centro para os lados. Feito com CSS puro e pseudo-elementos.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8641080" y="5257800"/>
            <a:ext cx="3200400" cy="777240"/>
          </a:xfrm>
          <a:prstGeom prst="roundRect">
            <a:avLst>
              <a:gd name="adj" fmla="val 5882"/>
            </a:avLst>
          </a:prstGeom>
          <a:solidFill>
            <a:srgbClr val="1B262C"/>
          </a:solidFill>
          <a:ln w="12700">
            <a:solidFill>
              <a:srgbClr val="1B262C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8732520" y="53035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E1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&amp;:hover::after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BE1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width: 70% }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576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32004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48640" y="9144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C7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containers, 1 comando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548640" y="1691640"/>
            <a:ext cx="3657600" cy="2377440"/>
          </a:xfrm>
          <a:prstGeom prst="roundRect">
            <a:avLst>
              <a:gd name="adj" fmla="val 4615"/>
            </a:avLst>
          </a:prstGeom>
          <a:solidFill>
            <a:srgbClr val="0F4C75"/>
          </a:solidFill>
          <a:ln w="12700">
            <a:solidFill>
              <a:srgbClr val="0F4C75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920240"/>
            <a:ext cx="731520" cy="7315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8640" y="27432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</a:t>
            </a:r>
            <a:endParaRPr lang="en-US" sz="2600" dirty="0"/>
          </a:p>
        </p:txBody>
      </p:sp>
      <p:sp>
        <p:nvSpPr>
          <p:cNvPr id="8" name="Text 4"/>
          <p:cNvSpPr/>
          <p:nvPr/>
        </p:nvSpPr>
        <p:spPr>
          <a:xfrm>
            <a:off x="548640" y="3246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BE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Nginx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548640" y="3611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BE1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:3000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480560" y="1691640"/>
            <a:ext cx="3657600" cy="2377440"/>
          </a:xfrm>
          <a:prstGeom prst="roundRect">
            <a:avLst>
              <a:gd name="adj" fmla="val 4615"/>
            </a:avLst>
          </a:prstGeom>
          <a:solidFill>
            <a:srgbClr val="0F4C75"/>
          </a:solidFill>
          <a:ln w="12700">
            <a:solidFill>
              <a:srgbClr val="0F4C75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920240"/>
            <a:ext cx="731520" cy="7315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480560" y="27432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</a:t>
            </a:r>
            <a:endParaRPr lang="en-US" sz="2600" dirty="0"/>
          </a:p>
        </p:txBody>
      </p:sp>
      <p:sp>
        <p:nvSpPr>
          <p:cNvPr id="13" name="Text 8"/>
          <p:cNvSpPr/>
          <p:nvPr/>
        </p:nvSpPr>
        <p:spPr>
          <a:xfrm>
            <a:off x="4480560" y="3246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BE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+ Express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4480560" y="3611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BE1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:4000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8412480" y="1691640"/>
            <a:ext cx="3657600" cy="2377440"/>
          </a:xfrm>
          <a:prstGeom prst="roundRect">
            <a:avLst>
              <a:gd name="adj" fmla="val 4615"/>
            </a:avLst>
          </a:prstGeom>
          <a:solidFill>
            <a:srgbClr val="0F4C75"/>
          </a:solidFill>
          <a:ln w="12700">
            <a:solidFill>
              <a:srgbClr val="0F4C75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0" y="1920240"/>
            <a:ext cx="731520" cy="7315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412480" y="27432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</a:t>
            </a:r>
            <a:endParaRPr lang="en-US" sz="2600" dirty="0"/>
          </a:p>
        </p:txBody>
      </p:sp>
      <p:sp>
        <p:nvSpPr>
          <p:cNvPr id="18" name="Text 12"/>
          <p:cNvSpPr/>
          <p:nvPr/>
        </p:nvSpPr>
        <p:spPr>
          <a:xfrm>
            <a:off x="8412480" y="3246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BE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8412480" y="3611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BE1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:3306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548640" y="4297680"/>
            <a:ext cx="11155680" cy="2011680"/>
          </a:xfrm>
          <a:prstGeom prst="roundRect">
            <a:avLst>
              <a:gd name="adj" fmla="val 5455"/>
            </a:avLst>
          </a:prstGeom>
          <a:solidFill>
            <a:srgbClr val="1B262C"/>
          </a:solidFill>
          <a:ln w="12700">
            <a:solidFill>
              <a:srgbClr val="1B262C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777240" y="44805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docker compose up --build</a:t>
            </a:r>
            <a:endParaRPr lang="en-US" sz="2600" dirty="0"/>
          </a:p>
        </p:txBody>
      </p:sp>
      <p:sp>
        <p:nvSpPr>
          <p:cNvPr id="22" name="Text 16"/>
          <p:cNvSpPr/>
          <p:nvPr/>
        </p:nvSpPr>
        <p:spPr>
          <a:xfrm>
            <a:off x="777240" y="512064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BBE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Constrói as 3 imagens · Cria a rede interna · Arranca os 3 containers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BBE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dependências (web → api → db) · Persiste a BD em volume Docker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Aceder em </a:t>
            </a:r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BBE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http://localhost:3000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576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32004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completo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48640" y="9144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C7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clique do utilizador até à base de dados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548640" y="169164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F5F9FC"/>
          </a:solidFill>
          <a:ln w="12700">
            <a:solidFill>
              <a:srgbClr val="F5F9F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0F4C75"/>
          </a:solidFill>
          <a:ln w="12700">
            <a:solidFill>
              <a:srgbClr val="0F4C7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417320" y="178308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Utilizador clica em ★</a:t>
            </a:r>
            <a:pPr indent="0" marL="0">
              <a:buNone/>
            </a:pPr>
            <a:r>
              <a:rPr lang="en-US" sz="14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 EventCard para guardar favorito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260604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F5F9FC"/>
          </a:solidFill>
          <a:ln w="12700">
            <a:solidFill>
              <a:srgbClr val="F5F9F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77240" y="2743200"/>
            <a:ext cx="502920" cy="502920"/>
          </a:xfrm>
          <a:prstGeom prst="ellipse">
            <a:avLst/>
          </a:prstGeom>
          <a:solidFill>
            <a:srgbClr val="0F4C75"/>
          </a:solidFill>
          <a:ln w="12700">
            <a:solidFill>
              <a:srgbClr val="0F4C7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417320" y="269748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chama toggleFavorite()</a:t>
            </a:r>
            <a:pPr indent="0" marL="0">
              <a:buNone/>
            </a:pPr>
            <a:r>
              <a:rPr lang="en-US" sz="14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do FavoritesContext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48640" y="352044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F5F9FC"/>
          </a:solidFill>
          <a:ln w="12700">
            <a:solidFill>
              <a:srgbClr val="F5F9F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77240" y="3657600"/>
            <a:ext cx="502920" cy="502920"/>
          </a:xfrm>
          <a:prstGeom prst="ellipse">
            <a:avLst/>
          </a:prstGeom>
          <a:solidFill>
            <a:srgbClr val="0F4C75"/>
          </a:solidFill>
          <a:ln w="12700">
            <a:solidFill>
              <a:srgbClr val="0F4C7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77240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1417320" y="361188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C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 POST /favorites</a:t>
            </a:r>
            <a:pPr indent="0" marL="0">
              <a:buNone/>
            </a:pPr>
            <a:r>
              <a:rPr lang="en-US" sz="14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com header Authorization: Bearer &lt;JWT&gt;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48640" y="443484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F5F9FC"/>
          </a:solidFill>
          <a:ln w="12700">
            <a:solidFill>
              <a:srgbClr val="F5F9F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77240" y="4572000"/>
            <a:ext cx="502920" cy="502920"/>
          </a:xfrm>
          <a:prstGeom prst="ellipse">
            <a:avLst/>
          </a:prstGeom>
          <a:solidFill>
            <a:srgbClr val="0F4C75"/>
          </a:solidFill>
          <a:ln w="12700">
            <a:solidFill>
              <a:srgbClr val="0F4C7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7240" y="4572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1417320" y="452628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valida o JWT</a:t>
            </a:r>
            <a:pPr indent="0" marL="0">
              <a:buNone/>
            </a:pPr>
            <a:r>
              <a:rPr lang="en-US" sz="1400" dirty="0">
                <a:solidFill>
                  <a:srgbClr val="1B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 identifica o utilizador (userId)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548640" y="534924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0F4C75"/>
          </a:solidFill>
          <a:ln w="12700">
            <a:solidFill>
              <a:srgbClr val="0F4C75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77240" y="548640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77240" y="5486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4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1417320" y="544068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favorites</a:t>
            </a:r>
            <a:pPr indent="0" marL="0">
              <a:buNone/>
            </a:pPr>
            <a:r>
              <a:rPr lang="en-US" sz="1400" dirty="0">
                <a:solidFill>
                  <a:srgbClr val="BBE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na base de dados → resposta volta ao React → UI atualiza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4C7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66360" y="1645920"/>
            <a:ext cx="1828800" cy="1828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21031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3749040"/>
            <a:ext cx="11155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 On</a:t>
            </a:r>
            <a:endParaRPr lang="en-US" sz="8800" dirty="0"/>
          </a:p>
        </p:txBody>
      </p:sp>
      <p:sp>
        <p:nvSpPr>
          <p:cNvPr id="5" name="Text 2"/>
          <p:cNvSpPr/>
          <p:nvPr/>
        </p:nvSpPr>
        <p:spPr>
          <a:xfrm>
            <a:off x="548640" y="502920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BE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 ao vivo da aplicação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5623560" y="5669280"/>
            <a:ext cx="914400" cy="45720"/>
          </a:xfrm>
          <a:prstGeom prst="rect">
            <a:avLst/>
          </a:prstGeom>
          <a:solidFill>
            <a:srgbClr val="BBE1FA"/>
          </a:solidFill>
          <a:ln w="12700">
            <a:solidFill>
              <a:srgbClr val="BBE1F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58978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BBE1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up --build  ·  localhost:3000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FestivAll — M2 Web Development</dc:title>
  <dc:subject>PptxGenJS Presentation</dc:subject>
  <dc:creator>Marcelo Pinto</dc:creator>
  <cp:lastModifiedBy>Marcelo Pinto</cp:lastModifiedBy>
  <cp:revision>1</cp:revision>
  <dcterms:created xsi:type="dcterms:W3CDTF">2026-06-15T02:55:52Z</dcterms:created>
  <dcterms:modified xsi:type="dcterms:W3CDTF">2026-06-15T02:55:52Z</dcterms:modified>
</cp:coreProperties>
</file>